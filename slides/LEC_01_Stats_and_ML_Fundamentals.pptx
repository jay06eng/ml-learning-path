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embeddedFontLst>
    <p:embeddedFont>
      <p:font typeface="Roboto"/>
      <p:regular r:id="rId53"/>
      <p:bold r:id="rId54"/>
      <p:italic r:id="rId55"/>
      <p:boldItalic r:id="rId56"/>
    </p:embeddedFont>
    <p:embeddedFont>
      <p:font typeface="Merriweather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Merriweather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italic.fntdata"/><Relationship Id="rId10" Type="http://schemas.openxmlformats.org/officeDocument/2006/relationships/slide" Target="slides/slide5.xml"/><Relationship Id="rId54" Type="http://schemas.openxmlformats.org/officeDocument/2006/relationships/font" Target="fonts/Roboto-bold.fntdata"/><Relationship Id="rId13" Type="http://schemas.openxmlformats.org/officeDocument/2006/relationships/slide" Target="slides/slide8.xml"/><Relationship Id="rId57" Type="http://schemas.openxmlformats.org/officeDocument/2006/relationships/font" Target="fonts/Merriweather-regular.fntdata"/><Relationship Id="rId12" Type="http://schemas.openxmlformats.org/officeDocument/2006/relationships/slide" Target="slides/slide7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59" Type="http://schemas.openxmlformats.org/officeDocument/2006/relationships/font" Target="fonts/Merriweather-italic.fntdata"/><Relationship Id="rId14" Type="http://schemas.openxmlformats.org/officeDocument/2006/relationships/slide" Target="slides/slide9.xml"/><Relationship Id="rId58" Type="http://schemas.openxmlformats.org/officeDocument/2006/relationships/font" Target="fonts/Merriweather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17b680c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17b680c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9f72e106f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9f72e106f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9f72e106f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9f72e106f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9f72e106f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9f72e106f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42975df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42975df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f72e106f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9f72e106f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9f72e106ff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9f72e106f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9f72e106f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9f72e106f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27ca87498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27ca87498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27ca8749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27ca8749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9f72e106f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9f72e106f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9f72e106f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9f72e106f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27ca87498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27ca87498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f72e106ff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f72e106f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9f72e106f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9f72e106f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9f72e106ff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9f72e106f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9f72e106ff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9f72e106ff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9f72e106ff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9f72e106ff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9f72e106ff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9f72e106ff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9f72e106ff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9f72e106f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9f72e106ff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9f72e106ff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27ca87498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e27ca87498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9f72e106ff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9f72e106ff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9f72e106ff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9f72e106ff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f72e106ff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f72e106f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9f72e106ff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9f72e106ff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9f72e106ff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9f72e106ff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f72e106ff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f72e106ff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9f72e106ff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9f72e106f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27ca87498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e27ca87498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9f72e106ff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9f72e106ff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9f72e106ff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9f72e106ff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9f72e106f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9f72e106f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9f72e106ff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9f72e106ff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9f72e106ff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9f72e106ff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9f72e106ff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9f72e106ff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9f72e106ff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9f72e106ff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e27ca87498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e27ca87498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9f72e106ff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9f72e106ff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9f72e106ff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9f72e106ff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9f72e106ff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9f72e106ff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9f72e106ff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9f72e106ff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e27ca87498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e27ca87498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9f72e106ff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9f72e106ff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9f72e106ff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9f72e106ff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9f72e106ff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9f72e106f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STATS AND ML FUNDAMENTALS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Discipline/Field of Study:</a:t>
            </a:r>
            <a:endParaRPr b="1"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Statistics (discipline): Math dealing with data—collecting, analyzing, interpreting.</a:t>
            </a:r>
            <a:endParaRPr sz="1500"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lang="en" sz="1500">
                <a:solidFill>
                  <a:srgbClr val="000000"/>
                </a:solidFill>
              </a:rPr>
              <a:t>Descriptive</a:t>
            </a:r>
            <a:endParaRPr sz="1500"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lang="en" sz="1500">
                <a:solidFill>
                  <a:srgbClr val="000000"/>
                </a:solidFill>
              </a:rPr>
              <a:t>inferential stats.</a:t>
            </a:r>
            <a:endParaRPr sz="1500">
              <a:solidFill>
                <a:srgbClr val="000000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</a:pPr>
            <a:r>
              <a:rPr b="1" lang="en" sz="1500">
                <a:solidFill>
                  <a:srgbClr val="000000"/>
                </a:solidFill>
              </a:rPr>
              <a:t>Data Summary or Measurements:</a:t>
            </a:r>
            <a:endParaRPr b="1" sz="18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Statistics (data): Numerical measures—mean, median, standard deviation. Summarize and understand data.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VS. Inferential</a:t>
            </a:r>
            <a:endParaRPr/>
          </a:p>
        </p:txBody>
      </p:sp>
      <p:sp>
        <p:nvSpPr>
          <p:cNvPr id="81" name="Google Shape;81;p16"/>
          <p:cNvSpPr txBox="1"/>
          <p:nvPr>
            <p:ph idx="4294967295" type="body"/>
          </p:nvPr>
        </p:nvSpPr>
        <p:spPr>
          <a:xfrm>
            <a:off x="698725" y="1498250"/>
            <a:ext cx="7746600" cy="31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Descriptive</a:t>
            </a:r>
            <a:r>
              <a:rPr b="1" lang="en" sz="1200">
                <a:solidFill>
                  <a:srgbClr val="000000"/>
                </a:solidFill>
              </a:rPr>
              <a:t> Statistics: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Purpose: </a:t>
            </a:r>
            <a:r>
              <a:rPr lang="en" sz="1200">
                <a:solidFill>
                  <a:srgbClr val="000000"/>
                </a:solidFill>
              </a:rPr>
              <a:t>Summarize and describe main features of a dataset.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Examples: </a:t>
            </a:r>
            <a:r>
              <a:rPr lang="en" sz="1200">
                <a:solidFill>
                  <a:srgbClr val="000000"/>
                </a:solidFill>
              </a:rPr>
              <a:t>Mean, median, mode, standard deviation.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Application: </a:t>
            </a:r>
            <a:r>
              <a:rPr lang="en" sz="1200">
                <a:solidFill>
                  <a:srgbClr val="000000"/>
                </a:solidFill>
              </a:rPr>
              <a:t>Provides insights into the central tendency, variability, and distribution of data.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Usage: </a:t>
            </a:r>
            <a:r>
              <a:rPr lang="en" sz="1200">
                <a:solidFill>
                  <a:srgbClr val="000000"/>
                </a:solidFill>
              </a:rPr>
              <a:t>Useful for organizing and simplifying large amounts of data for easy interpretation.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Inferential Statistics: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Purpose: </a:t>
            </a:r>
            <a:r>
              <a:rPr lang="en" sz="1200">
                <a:solidFill>
                  <a:srgbClr val="000000"/>
                </a:solidFill>
              </a:rPr>
              <a:t>Make predictions or inferences about a population based on a sample.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Examples: </a:t>
            </a:r>
            <a:r>
              <a:rPr lang="en" sz="1200">
                <a:solidFill>
                  <a:srgbClr val="000000"/>
                </a:solidFill>
              </a:rPr>
              <a:t>Hypothesis testing, regression analysis.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Application: </a:t>
            </a:r>
            <a:r>
              <a:rPr lang="en" sz="1200">
                <a:solidFill>
                  <a:srgbClr val="000000"/>
                </a:solidFill>
              </a:rPr>
              <a:t>Extends findings from a sample to a larger population.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Usage: </a:t>
            </a:r>
            <a:r>
              <a:rPr lang="en" sz="1200">
                <a:solidFill>
                  <a:srgbClr val="000000"/>
                </a:solidFill>
              </a:rPr>
              <a:t>Allows researchers to draw conclusions and make predictions beyond the observed data.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9825"/>
            <a:ext cx="8839199" cy="378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Inference</a:t>
            </a:r>
            <a:endParaRPr/>
          </a:p>
        </p:txBody>
      </p:sp>
      <p:sp>
        <p:nvSpPr>
          <p:cNvPr id="92" name="Google Shape;92;p18"/>
          <p:cNvSpPr txBox="1"/>
          <p:nvPr>
            <p:ph idx="4294967295" type="body"/>
          </p:nvPr>
        </p:nvSpPr>
        <p:spPr>
          <a:xfrm>
            <a:off x="86500" y="1376325"/>
            <a:ext cx="88872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inference is the process of using data from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sample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make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conclusions or predictions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about a larger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It relies heavily on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 theory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ensure that conclusions are valid and quantifiable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Random Sampling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Choosing a sample in a fair way, where everyone has an equal chance of being picked.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Helps avoid bias and ensures the sample represents the bigger group.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</a:t>
            </a:r>
            <a:endParaRPr b="1"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The math behind how likely something is to happen.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Helps us measure how confident we are in our conclusions.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Hypothesis Testing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A way to test ideas or claims using data.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For example: “Is the new product better than the old one?”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We use data to check if the claim holds up — or if it’s likely just due to chance.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nutshell: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Statistical inference is like using a small piece of the puzzle (your sample) to understand the big picture — using fair selection, chance, and data testing.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2400"/>
            <a:ext cx="839591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642950" y="2174250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Colab 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706400" y="3547100"/>
            <a:ext cx="698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https://colab.research.google.com/drive/1cgJol0nWEkYzwzYFyzqyh7xg7fm-BrT3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PROBABILITY</a:t>
            </a:r>
            <a:endParaRPr/>
          </a:p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4759375" y="516000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Probability is the numerical chance that something will happen; it tells us how likely it is that some event will occur.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 main terms: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Event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n"/>
              <a:t>Raining tomorrow.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n"/>
              <a:t>Rolling an even number on a six-sided die.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Outcome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n"/>
              <a:t>rain or no rain.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n"/>
              <a:t>rolling a 2, 4, or 6</a:t>
            </a:r>
            <a:endParaRPr b="1"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375" y="3084050"/>
            <a:ext cx="4193300" cy="16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624450" y="4828900"/>
            <a:ext cx="349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Image from: https://www.askiitians.com/iit-jee-algebra/probability/</a:t>
            </a:r>
            <a:endParaRPr sz="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383600" y="516000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F0F0F"/>
                </a:solidFill>
              </a:rPr>
              <a:t>What is the difference between the terms: Probability and Possibility.</a:t>
            </a:r>
            <a:endParaRPr sz="2200">
              <a:solidFill>
                <a:srgbClr val="0F0F0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F0F0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600">
                <a:solidFill>
                  <a:srgbClr val="0F0F0F"/>
                </a:solidFill>
              </a:rPr>
              <a:t>Never confuse these terms as a statistician/data scientist.</a:t>
            </a:r>
            <a:endParaRPr i="1" sz="16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note this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425100" y="516000"/>
            <a:ext cx="8288400" cy="411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Possibility indicates whether an event can happen, while probability quantifies how likely that event is to occur.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FORMULA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7625"/>
            <a:ext cx="8839201" cy="1546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1: Independent Event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45425" y="748500"/>
            <a:ext cx="46626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events are two or more events where the occurrence of one event does not affect the occurrence of the other(s).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3000"/>
              <a:t>P(X and Y) = P(X) * P(Y)</a:t>
            </a:r>
            <a:endParaRPr sz="3000"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0" y="3140300"/>
            <a:ext cx="6545515" cy="9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 rotWithShape="1">
          <a:blip r:embed="rId4">
            <a:alphaModFix/>
          </a:blip>
          <a:srcRect b="8315" l="0" r="0" t="0"/>
          <a:stretch/>
        </p:blipFill>
        <p:spPr>
          <a:xfrm>
            <a:off x="6135100" y="1556300"/>
            <a:ext cx="2708850" cy="16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1: Independent Event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three 6s if we have 3 dice?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145" name="Google Shape;145;p26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probability of getting a 6 in one die?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3000"/>
              <a:t>P(X and Y) = P(X) * P(Y)</a:t>
            </a:r>
            <a:endParaRPr sz="3000"/>
          </a:p>
        </p:txBody>
      </p:sp>
      <p:pic>
        <p:nvPicPr>
          <p:cNvPr id="147" name="Google Shape;147;p26"/>
          <p:cNvPicPr preferRelativeResize="0"/>
          <p:nvPr/>
        </p:nvPicPr>
        <p:blipFill rotWithShape="1">
          <a:blip r:embed="rId3">
            <a:alphaModFix/>
          </a:blip>
          <a:srcRect b="8315" l="0" r="0" t="0"/>
          <a:stretch/>
        </p:blipFill>
        <p:spPr>
          <a:xfrm>
            <a:off x="6135100" y="1556300"/>
            <a:ext cx="2708850" cy="16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1: Independent Event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three 6s if we have 3 dice?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154" name="Google Shape;154;p27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probability of getting a 6 in one die?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1/6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3000"/>
              <a:t>P(X and Y) = P(X) * P(Y)</a:t>
            </a:r>
            <a:endParaRPr sz="3000"/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3">
            <a:alphaModFix/>
          </a:blip>
          <a:srcRect b="8315" l="0" r="0" t="0"/>
          <a:stretch/>
        </p:blipFill>
        <p:spPr>
          <a:xfrm>
            <a:off x="6135100" y="1556300"/>
            <a:ext cx="2708850" cy="16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1: Independent Event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three 6s if we have 3 dice?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163" name="Google Shape;163;p28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probability of getting a 6 in one die?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1/6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probability of getting 3 6s?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3000"/>
              <a:t>P(X and Y) = P(X) * P(Y)</a:t>
            </a:r>
            <a:endParaRPr sz="3000"/>
          </a:p>
        </p:txBody>
      </p:sp>
      <p:pic>
        <p:nvPicPr>
          <p:cNvPr id="165" name="Google Shape;165;p28"/>
          <p:cNvPicPr preferRelativeResize="0"/>
          <p:nvPr/>
        </p:nvPicPr>
        <p:blipFill rotWithShape="1">
          <a:blip r:embed="rId3">
            <a:alphaModFix/>
          </a:blip>
          <a:srcRect b="8315" l="0" r="0" t="0"/>
          <a:stretch/>
        </p:blipFill>
        <p:spPr>
          <a:xfrm>
            <a:off x="6135100" y="1556300"/>
            <a:ext cx="2708850" cy="16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1: Independent Event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three 6s if we have 3 dice?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172" name="Google Shape;172;p29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probability of getting a 6 in one die?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1/6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probability of getting 3 6s?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1/6 * 1/6 * 1/6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3000"/>
              <a:t>P(X and Y) = P(X) * P(Y)</a:t>
            </a:r>
            <a:endParaRPr sz="3000"/>
          </a:p>
        </p:txBody>
      </p:sp>
      <p:pic>
        <p:nvPicPr>
          <p:cNvPr id="174" name="Google Shape;174;p29"/>
          <p:cNvPicPr preferRelativeResize="0"/>
          <p:nvPr/>
        </p:nvPicPr>
        <p:blipFill rotWithShape="1">
          <a:blip r:embed="rId3">
            <a:alphaModFix/>
          </a:blip>
          <a:srcRect b="8315" l="0" r="0" t="0"/>
          <a:stretch/>
        </p:blipFill>
        <p:spPr>
          <a:xfrm>
            <a:off x="6135100" y="1556300"/>
            <a:ext cx="2708850" cy="16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1: Independent Event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three 6s if we have 3 dice?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181" name="Google Shape;181;p30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probability of getting a 6 in one die?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1/6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probability of getting 3 6s?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1/6 * 1/6 * 1/6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Answer:  1/216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This probability, when expressed as a decimal, is approximately 0.0046. So, the probability of rolling three 6s on a fair six-sided die is approximately 0.0046 or 0.46%.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3000"/>
              <a:t>P(X and Y) = P(X) * P(Y)</a:t>
            </a:r>
            <a:endParaRPr sz="3000"/>
          </a:p>
        </p:txBody>
      </p:sp>
      <p:pic>
        <p:nvPicPr>
          <p:cNvPr id="183" name="Google Shape;183;p30"/>
          <p:cNvPicPr preferRelativeResize="0"/>
          <p:nvPr/>
        </p:nvPicPr>
        <p:blipFill rotWithShape="1">
          <a:blip r:embed="rId3">
            <a:alphaModFix/>
          </a:blip>
          <a:srcRect b="8315" l="0" r="0" t="0"/>
          <a:stretch/>
        </p:blipFill>
        <p:spPr>
          <a:xfrm>
            <a:off x="6135100" y="1556300"/>
            <a:ext cx="2708850" cy="16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7: Q1</a:t>
            </a:r>
            <a:endParaRPr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4759375" y="516000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0F0F0F"/>
                </a:solidFill>
              </a:rPr>
              <a:t>You roll a fair six-sided die. What is the probability of rolling a 3 on the first roll and a 5 on the second roll? (Assume each roll is independent.)</a:t>
            </a:r>
            <a:endParaRPr b="1" sz="2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88" y="1699088"/>
            <a:ext cx="8129825" cy="174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/>
          <p:nvPr/>
        </p:nvSpPr>
        <p:spPr>
          <a:xfrm>
            <a:off x="346100" y="4698775"/>
            <a:ext cx="8290800" cy="23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deck of cards for reference</a:t>
            </a:r>
            <a:endParaRPr/>
          </a:p>
        </p:txBody>
      </p:sp>
      <p:pic>
        <p:nvPicPr>
          <p:cNvPr id="201" name="Google Shape;2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00" y="379050"/>
            <a:ext cx="8880975" cy="37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2: Dependent Events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45425" y="748500"/>
            <a:ext cx="51777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Dependent events are events where the occurrence of one event affects the probability of the occurrence of another event.</a:t>
            </a:r>
            <a:endParaRPr sz="16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8612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75"/>
              <a:buAutoNum type="alphaLcPeriod"/>
            </a:pPr>
            <a:r>
              <a:t/>
            </a:r>
            <a:endParaRPr sz="1575"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700"/>
              <a:t>P(X and Y) = P(X) * P(Y after X has occurred)</a:t>
            </a:r>
            <a:endParaRPr sz="2400"/>
          </a:p>
        </p:txBody>
      </p:sp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600" y="1191850"/>
            <a:ext cx="2765999" cy="222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321" y="3006300"/>
            <a:ext cx="5686176" cy="11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2: Dependent Events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choosing two red cards in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217" name="Google Shape;217;p35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Out of 52 cards, half is red, half is black.</a:t>
            </a:r>
            <a:endParaRPr sz="12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700"/>
              <a:t>P(X and Y) = P(X) * P(Y after X has occurred)</a:t>
            </a:r>
            <a:endParaRPr sz="2400"/>
          </a:p>
        </p:txBody>
      </p:sp>
      <p:pic>
        <p:nvPicPr>
          <p:cNvPr id="219" name="Google Shape;21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600" y="1191850"/>
            <a:ext cx="2765999" cy="222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2: Dependent Events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choosing two red cards in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226" name="Google Shape;226;p36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Out of 52 cards, half is red, half is black.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P(red)= 26/52=1/2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700"/>
              <a:t>P(X and Y) = P(X) * P(Y after X has occurred)</a:t>
            </a:r>
            <a:endParaRPr sz="2400"/>
          </a:p>
        </p:txBody>
      </p:sp>
      <p:pic>
        <p:nvPicPr>
          <p:cNvPr id="228" name="Google Shape;2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600" y="1191850"/>
            <a:ext cx="2765999" cy="222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2: Dependent Events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choosing two red cards in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235" name="Google Shape;235;p37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Out of 52 cards, half is red, half is black.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P(red)= 26/52=1/2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Since we are then left with 51 cards,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700"/>
              <a:t>P(X and Y) = P(X) * P(Y after X has occurred)</a:t>
            </a:r>
            <a:endParaRPr sz="2400"/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600" y="1191850"/>
            <a:ext cx="2765999" cy="222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2: Dependent Events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choosing two red cards in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244" name="Google Shape;244;p38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Out of 52 cards, half is red, half is black.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P(red)= 26/52=1/2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Since we are then left with 51 cards,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P(2nd red)= 26/52 ∗ 25/51</a:t>
            </a:r>
            <a:endParaRPr sz="12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700"/>
              <a:t>P(X and Y) = P(X) * P(Y after X has occurred)</a:t>
            </a:r>
            <a:endParaRPr sz="2400"/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600" y="1191850"/>
            <a:ext cx="2765999" cy="222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2: Dependent Events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choosing two red cards in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253" name="Google Shape;253;p39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Out of 52 cards, half is red, half is black.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P(red)= 26/52=1/2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Since we are then left with 51 cards,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P(2nd red)= 26/52 ∗ 25/51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Answer:  25/102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So, the probability of drawing a red card on the second draw is approximately </a:t>
            </a:r>
            <a:endParaRPr sz="12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F0F0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0.2451</a:t>
            </a:r>
            <a:r>
              <a:rPr lang="en" sz="12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or</a:t>
            </a:r>
            <a:r>
              <a:rPr lang="en" sz="1450">
                <a:solidFill>
                  <a:srgbClr val="0F0F0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24.51%</a:t>
            </a:r>
            <a:endParaRPr sz="12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700"/>
              <a:t>P(X and Y) = P(X) * P(Y after X has occurred)</a:t>
            </a:r>
            <a:endParaRPr sz="2400"/>
          </a:p>
        </p:txBody>
      </p:sp>
      <p:pic>
        <p:nvPicPr>
          <p:cNvPr id="255" name="Google Shape;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600" y="1191850"/>
            <a:ext cx="2765999" cy="222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7: Q2</a:t>
            </a:r>
            <a:endParaRPr/>
          </a:p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4530775" y="516000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F0F0F"/>
                </a:solidFill>
              </a:rPr>
              <a:t>You have a bag with six marbles: three red marbles and three blue marbles. If you draw a marble, record its color, and then do not put it back into the bag before drawing another marble. What is the probability of the following?</a:t>
            </a:r>
            <a:endParaRPr sz="1400">
              <a:solidFill>
                <a:srgbClr val="0F0F0F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What is the probability of drawing a red marble on the first draw?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What is the probability of drawing a blue marble on the second draw after drawing a red marble on the first draw?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Calculate the probability of both events occurring (drawing a red marble on the first draw and a blue marble on the second draw).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1"/>
          <p:cNvPicPr preferRelativeResize="0"/>
          <p:nvPr/>
        </p:nvPicPr>
        <p:blipFill rotWithShape="1">
          <a:blip r:embed="rId3">
            <a:alphaModFix/>
          </a:blip>
          <a:srcRect b="0" l="0" r="0" t="22051"/>
          <a:stretch/>
        </p:blipFill>
        <p:spPr>
          <a:xfrm>
            <a:off x="447675" y="1810400"/>
            <a:ext cx="8248650" cy="212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/>
          <p:nvPr/>
        </p:nvSpPr>
        <p:spPr>
          <a:xfrm>
            <a:off x="521000" y="4169350"/>
            <a:ext cx="8290800" cy="23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3: </a:t>
            </a:r>
            <a:r>
              <a:rPr b="1" lang="en" sz="1800">
                <a:solidFill>
                  <a:srgbClr val="0F0F0F"/>
                </a:solidFill>
              </a:rPr>
              <a:t>Mutually Exclusive Events (Can’t happen together)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45425" y="748500"/>
            <a:ext cx="58041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Mutually exclusive events are events that cannot occur simultaneously.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t/>
            </a:r>
            <a:endParaRPr sz="1500"/>
          </a:p>
        </p:txBody>
      </p:sp>
      <p:sp>
        <p:nvSpPr>
          <p:cNvPr id="274" name="Google Shape;274;p42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P(A and B) = 0  and P(X or Y) = P(X) + P(Y)</a:t>
            </a:r>
            <a:endParaRPr sz="2300"/>
          </a:p>
        </p:txBody>
      </p:sp>
      <p:pic>
        <p:nvPicPr>
          <p:cNvPr id="276" name="Google Shape;2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650" y="1377182"/>
            <a:ext cx="2141450" cy="171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3050" y="2453375"/>
            <a:ext cx="1616675" cy="161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800" y="2767125"/>
            <a:ext cx="5507226" cy="10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3: Mutually Exclusive Events (Can’t happen together)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84" name="Google Shape;284;p43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a King and a Queen from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285" name="Google Shape;285;p43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P(A and B) = 0  and P(X or Y) = P(X) + P(Y)</a:t>
            </a:r>
            <a:endParaRPr sz="2300"/>
          </a:p>
        </p:txBody>
      </p:sp>
      <p:pic>
        <p:nvPicPr>
          <p:cNvPr id="287" name="Google Shape;28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650" y="1377182"/>
            <a:ext cx="2141450" cy="171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3050" y="2453375"/>
            <a:ext cx="1616675" cy="16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3: Mutually Exclusive Events (Can’t happen together)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294" name="Google Shape;294;p44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a King and a Queen from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295" name="Google Shape;295;p44"/>
          <p:cNvSpPr txBox="1"/>
          <p:nvPr/>
        </p:nvSpPr>
        <p:spPr>
          <a:xfrm>
            <a:off x="439650" y="1455550"/>
            <a:ext cx="81420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Straight up, ZERO!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But we can do King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Queen…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4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P(A and B) = 0  and P(X or Y) = P(X) + P(Y)</a:t>
            </a:r>
            <a:endParaRPr sz="2300"/>
          </a:p>
        </p:txBody>
      </p:sp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650" y="1377182"/>
            <a:ext cx="2141450" cy="171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3050" y="2453375"/>
            <a:ext cx="1616675" cy="16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3: Mutually Exclusive Events (Can’t happen together)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350550" y="1386400"/>
            <a:ext cx="84429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 are 52 cards with 4 suits (hearts, diamonds, clubs, and spades)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Each suit has 1 Queen and 1 King.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45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P(A and B) = 0  and P(X or Y) = P(X) + P(Y)</a:t>
            </a:r>
            <a:endParaRPr sz="2300"/>
          </a:p>
        </p:txBody>
      </p:sp>
      <p:sp>
        <p:nvSpPr>
          <p:cNvPr id="306" name="Google Shape;306;p45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a King OR a Queen from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3: Mutually Exclusive Events (Can’t happen together)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350550" y="1386400"/>
            <a:ext cx="84429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 are 52 cards with 4 suits (hearts, diamonds, clubs, and spades)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Each suit has 1 Queen and 1 King.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Hence, the probability of drawing a Queen is 4/52 or 1/13. Same for the King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Combining them,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1/13 + 1/13 = 2/13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4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P(A and B) = 0  and P(X or Y) = P(X) + P(Y)</a:t>
            </a:r>
            <a:endParaRPr sz="2300"/>
          </a:p>
        </p:txBody>
      </p:sp>
      <p:sp>
        <p:nvSpPr>
          <p:cNvPr id="314" name="Google Shape;314;p46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a King OR a Queen from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3: Mutually Exclusive Events (Can’t happen together)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20" name="Google Shape;320;p47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probability of getting a King OR a Queen from a deck of cards?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321" name="Google Shape;321;p47"/>
          <p:cNvSpPr txBox="1"/>
          <p:nvPr/>
        </p:nvSpPr>
        <p:spPr>
          <a:xfrm>
            <a:off x="350550" y="1386400"/>
            <a:ext cx="84429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 are 52 cards with 4 suits (hearts, diamonds, clubs, and spades)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Each suit has 1 Queen and 1 King.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Hence, the probability of drawing a Queen is 4/52 or 1/13. Same for the King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Combining them,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1/13 + 1/13 = 2/13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47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P(A and B) = 0  and P(X or Y) = P(X) + P(Y)</a:t>
            </a:r>
            <a:endParaRPr sz="2300"/>
          </a:p>
        </p:txBody>
      </p:sp>
      <p:pic>
        <p:nvPicPr>
          <p:cNvPr id="323" name="Google Shape;3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25" y="3231438"/>
            <a:ext cx="801052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7: Q3</a:t>
            </a:r>
            <a:endParaRPr/>
          </a:p>
        </p:txBody>
      </p:sp>
      <p:sp>
        <p:nvSpPr>
          <p:cNvPr id="329" name="Google Shape;329;p48"/>
          <p:cNvSpPr txBox="1"/>
          <p:nvPr>
            <p:ph idx="1" type="body"/>
          </p:nvPr>
        </p:nvSpPr>
        <p:spPr>
          <a:xfrm>
            <a:off x="4491375" y="516000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0F0F"/>
                </a:solidFill>
              </a:rPr>
              <a:t>You flip a fair coin. What is the probability of getting heads or tails?</a:t>
            </a:r>
            <a:endParaRPr sz="2400">
              <a:solidFill>
                <a:srgbClr val="0F0F0F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F0F0F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F0F0F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1885950"/>
            <a:ext cx="72199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9"/>
          <p:cNvSpPr/>
          <p:nvPr/>
        </p:nvSpPr>
        <p:spPr>
          <a:xfrm>
            <a:off x="521000" y="4108900"/>
            <a:ext cx="8290800" cy="23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4: </a:t>
            </a:r>
            <a:r>
              <a:rPr b="1" lang="en" sz="1800">
                <a:solidFill>
                  <a:srgbClr val="0F0F0F"/>
                </a:solidFill>
              </a:rPr>
              <a:t>Inclusive Events (Can happen at the same time)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Inclusive events are events that can occur simultaneously.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sz="1500"/>
          </a:p>
        </p:txBody>
      </p:sp>
      <p:sp>
        <p:nvSpPr>
          <p:cNvPr id="342" name="Google Shape;342;p5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P(X or Y) = P(X) + P(Y) − P(X and Y)</a:t>
            </a:r>
            <a:endParaRPr sz="2300"/>
          </a:p>
        </p:txBody>
      </p:sp>
      <p:pic>
        <p:nvPicPr>
          <p:cNvPr id="343" name="Google Shape;34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63" y="2832800"/>
            <a:ext cx="82962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4: Inclusive Events (Can happen at the same time)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49" name="Google Shape;349;p51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choose a card from a deck, what is the probability of getting a Queen or a Heart?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350" name="Google Shape;350;p51"/>
          <p:cNvSpPr txBox="1"/>
          <p:nvPr/>
        </p:nvSpPr>
        <p:spPr>
          <a:xfrm>
            <a:off x="350550" y="1386400"/>
            <a:ext cx="84429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can either get a Queen, a Heart, or the Queen of Hearts.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5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P(X or Y) = P(X) + P(Y) − P(X and Y)</a:t>
            </a:r>
            <a:endParaRPr sz="23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2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4: Inclusive Events (Can happen at the same time)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57" name="Google Shape;357;p52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choose a card from a deck, what is the probability of getting a Queen or a Heart?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358" name="Google Shape;358;p52"/>
          <p:cNvSpPr txBox="1"/>
          <p:nvPr/>
        </p:nvSpPr>
        <p:spPr>
          <a:xfrm>
            <a:off x="350550" y="1386400"/>
            <a:ext cx="84429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can either get a Queen, a Heart, or the Queen of Hearts.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P(X) = 4/ 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P(Y) = 13/52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5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P(X or Y) = P(X) + P(Y) − P(X and Y)</a:t>
            </a:r>
            <a:endParaRPr sz="2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4: Inclusive Events (Can happen at the same time)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65" name="Google Shape;365;p53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choose a card from a deck, what is the probability of getting a Queen or a Heart?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366" name="Google Shape;366;p53"/>
          <p:cNvSpPr txBox="1"/>
          <p:nvPr/>
        </p:nvSpPr>
        <p:spPr>
          <a:xfrm>
            <a:off x="350550" y="1386400"/>
            <a:ext cx="84429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can either get a Queen, a Heart, or the Queen of Hearts.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P(X) = 4/ 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P(Y) = 13/52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 and Y) = 1/52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5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P(X or Y) = P(X) + P(Y) − P(X and Y)</a:t>
            </a:r>
            <a:endParaRPr sz="23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4: Inclusive Events (Can happen at the same time)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73" name="Google Shape;373;p54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choose a card from a deck, what is the probability of getting a Queen or a Heart?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374" name="Google Shape;374;p54"/>
          <p:cNvSpPr txBox="1"/>
          <p:nvPr/>
        </p:nvSpPr>
        <p:spPr>
          <a:xfrm>
            <a:off x="350550" y="1386400"/>
            <a:ext cx="84429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can either get a Queen, a Heart, or the Queen of Hearts.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P(X) = 4/ 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P(Y) = 13/52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 and Y) = 1/52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 or Y) = 4/ 52 + 13/52 - 1/52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P(X or Y) = P(X) + P(Y) − P(X and Y)</a:t>
            </a:r>
            <a:endParaRPr sz="2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>
            <p:ph idx="1" type="body"/>
          </p:nvPr>
        </p:nvSpPr>
        <p:spPr>
          <a:xfrm>
            <a:off x="293325" y="2530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0F0F"/>
                </a:solidFill>
              </a:rPr>
              <a:t>EXAMPLE 4: Inclusive Events (Can happen at the same time)</a:t>
            </a:r>
            <a:endParaRPr b="1" sz="1800">
              <a:solidFill>
                <a:srgbClr val="0F0F0F"/>
              </a:solidFill>
            </a:endParaRPr>
          </a:p>
        </p:txBody>
      </p:sp>
      <p:sp>
        <p:nvSpPr>
          <p:cNvPr id="381" name="Google Shape;381;p55"/>
          <p:cNvSpPr txBox="1"/>
          <p:nvPr>
            <p:ph idx="1" type="body"/>
          </p:nvPr>
        </p:nvSpPr>
        <p:spPr>
          <a:xfrm>
            <a:off x="345425" y="748500"/>
            <a:ext cx="84429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choose a card from a deck, what is the probability of getting a Queen or a Heart?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t/>
            </a:r>
            <a:endParaRPr b="1" sz="1500"/>
          </a:p>
        </p:txBody>
      </p:sp>
      <p:sp>
        <p:nvSpPr>
          <p:cNvPr id="382" name="Google Shape;382;p55"/>
          <p:cNvSpPr txBox="1"/>
          <p:nvPr/>
        </p:nvSpPr>
        <p:spPr>
          <a:xfrm>
            <a:off x="350550" y="1386400"/>
            <a:ext cx="84429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can either get a Queen, a Heart, or the Queen of Hearts.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P(X) = 4/ 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P(Y) = 13/52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 and Y) = 1/52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P(X or Y) = 4/ 52 + 13/52 - 1/52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Answer: 16/52 or 4/13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889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500"/>
              <a:t>P(X or Y) = P(X) + P(Y) − P(X and Y)</a:t>
            </a:r>
            <a:endParaRPr sz="23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note this</a:t>
            </a:r>
            <a:endParaRPr/>
          </a:p>
        </p:txBody>
      </p:sp>
      <p:pic>
        <p:nvPicPr>
          <p:cNvPr id="389" name="Google Shape;38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" y="523875"/>
            <a:ext cx="81153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7: Q4</a:t>
            </a:r>
            <a:endParaRPr/>
          </a:p>
        </p:txBody>
      </p:sp>
      <p:sp>
        <p:nvSpPr>
          <p:cNvPr id="395" name="Google Shape;395;p57"/>
          <p:cNvSpPr txBox="1"/>
          <p:nvPr>
            <p:ph idx="1" type="body"/>
          </p:nvPr>
        </p:nvSpPr>
        <p:spPr>
          <a:xfrm>
            <a:off x="4491375" y="516000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0F0F"/>
                </a:solidFill>
              </a:rPr>
              <a:t>In a deck of 52 cards, what is the probability of drawing either a spade or a face card (king, queen, or jack)?</a:t>
            </a:r>
            <a:endParaRPr sz="2400">
              <a:solidFill>
                <a:srgbClr val="0F0F0F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F0F0F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0F0F0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38" y="1447800"/>
            <a:ext cx="8467725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8"/>
          <p:cNvSpPr/>
          <p:nvPr/>
        </p:nvSpPr>
        <p:spPr>
          <a:xfrm>
            <a:off x="560300" y="3943725"/>
            <a:ext cx="8290800" cy="23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CONTINUED…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